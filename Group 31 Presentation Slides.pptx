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70" r:id="rId8"/>
    <p:sldId id="259" r:id="rId9"/>
    <p:sldId id="260" r:id="rId10"/>
    <p:sldId id="261" r:id="rId11"/>
    <p:sldId id="263" r:id="rId12"/>
    <p:sldId id="262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0E270-D08F-0615-9FB4-523330232A7F}" v="344" dt="2025-05-27T07:03:14.727"/>
    <p1510:client id="{54A3D2BD-9821-86B5-DE5B-99E9DAD61196}" v="322" dt="2025-05-27T14:50:33.654"/>
    <p1510:client id="{9803638A-DC1F-28B3-EC11-1D71A154A2C0}" v="980" dt="2025-05-27T13:40:22.522"/>
    <p1510:client id="{9D91651C-5317-4B4D-9A9E-D6023695E1EB}" v="212" dt="2025-05-27T14:33:24.803"/>
    <p1510:client id="{DB821F97-603F-3553-4AF8-332E9361F431}" v="31" dt="2025-05-27T18:31:41.546"/>
    <p1510:client id="{EAF270FE-D134-8910-1287-E8130CA5A61D}" v="112" dt="2025-05-27T07:19:25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7T08:00:11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16563 6244 16383 0 0,'7'0'0'0'0,"3"7"0"0"0,6 3 0 0 0,8 6 0 0 0,0 8 0 0 0,3 0 0 0 0,4-4 0 0 0,-3 2 0 0 0,1-4 0 0 0,2-4 0 0 0,-3 3 0 0 0,0-2 0 0 0,-5 4 0 0 0,2-1 0 0 0,3-4 0 0 0,4-4 0 0 0,4 3 0 0 0,3-1 0 0 0,2-1 0 0 0,1-4 0 0 0,1-2 0 0 0,0-3 0 0 0,0-1 0 0 0,0 6 0 0 0,0 2 0 0 0,0 0 0 0 0,-1-2 0 0 0,1-2 0 0 0,-1-2 0 0 0,0-2 0 0 0,1 0 0 0 0,-1-1 0 0 0,0-1 0 0 0,0 1 0 0 0,-6-8 0 0 0,-4-2 0 0 0,2 1 0 0 0,0 2 0 0 0,4 1 0 0 0,1 3 0 0 0,-6-6 0 0 0,-1-1 0 0 0,1 1 0 0 0,-5-6 0 0 0,0 1 0 0 0,3 2 0 0 0,2-4 0 0 0,4 1 0 0 0,-5-5 0 0 0,-1 2 0 0 0,2 4 0 0 0,-12 3 0 0 0,-17 5 0 0 0,-16 3 0 0 0,-13 1 0 0 0,-10 2 0 0 0,-6 1 0 0 0,-3-7 0 0 0,-2-3 0 0 0,1 0 0 0 0,0 3 0 0 0,0 1 0 0 0,9-6 0 0 0,17 0 0 0 0,19 1 0 0 0,16 3 0 0 0,14 2 0 0 0,8 2 0 0 0,5 2 0 0 0,2 0 0 0 0,1 1 0 0 0,0 1 0 0 0,-8 7 0 0 0,-10 9 0 0 0,-11 9 0 0 0,-7 8 0 0 0,-6 4 0 0 0,-4 4 0 0 0,-1 1 0 0 0,-1 2 0 0 0,-7-1 0 0 0,-9-8 0 0 0,-2-9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7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92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31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56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14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45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52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1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75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89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10" Type="http://schemas.openxmlformats.org/officeDocument/2006/relationships/image" Target="../media/image21.png"/><Relationship Id="rId4" Type="http://schemas.openxmlformats.org/officeDocument/2006/relationships/image" Target="../media/image16.svg"/><Relationship Id="rId9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ccording-to-e.blogspot.com/2011_05_01_archive.html" TargetMode="External"/><Relationship Id="rId5" Type="http://schemas.openxmlformats.org/officeDocument/2006/relationships/image" Target="../media/image23.jpeg"/><Relationship Id="rId4" Type="http://schemas.openxmlformats.org/officeDocument/2006/relationships/hyperlink" Target="https://azat.cc/2020/02/18/satellite-guide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nguins standing on sand&#10;&#10;AI-generated content may be incorrect.">
            <a:extLst>
              <a:ext uri="{FF2B5EF4-FFF2-40B4-BE49-F238E27FC236}">
                <a16:creationId xmlns:a16="http://schemas.microsoft.com/office/drawing/2014/main" id="{1D9C656B-9DEC-112F-03F1-87071920E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13720" b="105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93A29-10FD-0DB7-DF64-16801C40D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59" y="162232"/>
            <a:ext cx="5293386" cy="4894897"/>
          </a:xfrm>
        </p:spPr>
        <p:txBody>
          <a:bodyPr anchor="t">
            <a:noAutofit/>
          </a:bodyPr>
          <a:lstStyle/>
          <a:p>
            <a:pPr algn="r">
              <a:lnSpc>
                <a:spcPct val="90000"/>
              </a:lnSpc>
            </a:pPr>
            <a:r>
              <a:rPr lang="en-ZA" sz="4800">
                <a:solidFill>
                  <a:srgbClr val="FFFFFF"/>
                </a:solidFill>
              </a:rPr>
              <a:t>“How to keep predators, particularly honey badgers, away from the fence and the penguins??”</a:t>
            </a:r>
            <a:br>
              <a:rPr lang="en-ZA" sz="4800">
                <a:solidFill>
                  <a:srgbClr val="FFFFFF"/>
                </a:solidFill>
              </a:rPr>
            </a:br>
            <a:endParaRPr lang="en-ZA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81AC4-9458-D8BC-18A7-FBBB15785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6064" y="5551103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ZA">
                <a:solidFill>
                  <a:srgbClr val="FFFFFF"/>
                </a:solidFill>
              </a:rPr>
              <a:t>Group 31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434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DCE6B-46DE-9183-5A4D-E6B8329FD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587" y="564621"/>
            <a:ext cx="10890928" cy="914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INSIGHT FROM THE LITERATURE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D399DC-C2A2-0C7F-F0B0-4A5341301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n animal walking in the grass&#10;&#10;AI-generated content may be incorrect.">
            <a:extLst>
              <a:ext uri="{FF2B5EF4-FFF2-40B4-BE49-F238E27FC236}">
                <a16:creationId xmlns:a16="http://schemas.microsoft.com/office/drawing/2014/main" id="{A94F63F8-FE8C-C589-BDED-9B5BA5915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1945401"/>
            <a:ext cx="2587733" cy="1722018"/>
          </a:xfrm>
          <a:prstGeom prst="rect">
            <a:avLst/>
          </a:prstGeom>
        </p:spPr>
      </p:pic>
      <p:pic>
        <p:nvPicPr>
          <p:cNvPr id="5" name="Content Placeholder 4" descr="A lioness and a fish on a dirt road&#10;&#10;AI-generated content may be incorrect.">
            <a:extLst>
              <a:ext uri="{FF2B5EF4-FFF2-40B4-BE49-F238E27FC236}">
                <a16:creationId xmlns:a16="http://schemas.microsoft.com/office/drawing/2014/main" id="{62E75098-F215-10BA-E0C1-371A18AB8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4403867"/>
            <a:ext cx="2588387" cy="1647155"/>
          </a:xfrm>
          <a:prstGeom prst="rect">
            <a:avLst/>
          </a:prstGeom>
        </p:spPr>
      </p:pic>
      <p:pic>
        <p:nvPicPr>
          <p:cNvPr id="18" name="Picture 17" descr="A toy animal wearing a garment&#10;&#10;AI-generated content may be incorrect.">
            <a:extLst>
              <a:ext uri="{FF2B5EF4-FFF2-40B4-BE49-F238E27FC236}">
                <a16:creationId xmlns:a16="http://schemas.microsoft.com/office/drawing/2014/main" id="{6B29D01C-1A40-4D99-7D5E-3C45F947CC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306" y="2089650"/>
            <a:ext cx="2341832" cy="36879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C1BBA8-9F54-44E5-7A64-B7BF7442AED9}"/>
              </a:ext>
            </a:extLst>
          </p:cNvPr>
          <p:cNvSpPr txBox="1"/>
          <p:nvPr/>
        </p:nvSpPr>
        <p:spPr>
          <a:xfrm>
            <a:off x="6949440" y="2285999"/>
            <a:ext cx="4581568" cy="376502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US"/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sz="2200"/>
              <a:t>1.  The world’s most fearless animal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sz="2200"/>
              <a:t>2.  Courageous, aggressive, strong and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sz="2400"/>
              <a:t>                       SMART!!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sz="2400" b="1" u="sng"/>
              <a:t>Weaknesses</a:t>
            </a:r>
            <a:r>
              <a:rPr lang="en-US" sz="2400"/>
              <a:t>:</a:t>
            </a: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SzPct val="87000"/>
              <a:buAutoNum type="arabicPeriod"/>
            </a:pPr>
            <a:r>
              <a:rPr lang="en-US" sz="2400"/>
              <a:t>Nocturnal </a:t>
            </a: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SzPct val="87000"/>
              <a:buAutoNum type="arabicPeriod"/>
            </a:pPr>
            <a:r>
              <a:rPr lang="en-US" sz="2400"/>
              <a:t>Heavily rely on smell for hunting</a:t>
            </a: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SzPct val="87000"/>
              <a:buAutoNum type="arabicPeriod"/>
            </a:pPr>
            <a:r>
              <a:rPr lang="en-US" sz="2400"/>
              <a:t>Repelled by certain scents </a:t>
            </a:r>
            <a:r>
              <a:rPr lang="en-US" sz="1700" b="1" err="1"/>
              <a:t>e.g</a:t>
            </a:r>
            <a:r>
              <a:rPr lang="en-US" sz="1700" b="1"/>
              <a:t> Citronella oil, garlic, vinegar </a:t>
            </a:r>
            <a:r>
              <a:rPr lang="en-US" sz="1700" b="1" err="1"/>
              <a:t>etc</a:t>
            </a:r>
            <a:endParaRPr lang="en-US" sz="1700" b="1"/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15999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4027E-AE0D-E7CC-2DF8-FB1FE394D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ZA" sz="3700"/>
              <a:t>Proposed solution:</a:t>
            </a:r>
            <a:br>
              <a:rPr lang="en-ZA" sz="3700"/>
            </a:br>
            <a:r>
              <a:rPr lang="en-ZA" sz="3700"/>
              <a:t>Honey Badger Repellent System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5D8B98-6FB4-D090-5AEB-749B8C92C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54" y="2256287"/>
            <a:ext cx="5648193" cy="320534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8A1A3-C53F-EAB1-23E0-9B1F3AB1C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en-ZA"/>
              <a:t>Light and scent as a repellent</a:t>
            </a:r>
          </a:p>
          <a:p>
            <a:r>
              <a:rPr lang="en-ZA"/>
              <a:t>Periodically spray the vicinity to desensitize the colony</a:t>
            </a:r>
          </a:p>
          <a:p>
            <a:r>
              <a:rPr lang="en-ZA"/>
              <a:t>Once animal detected – turn on the strobing lights and power the spray </a:t>
            </a:r>
            <a:endParaRPr lang="en-ZA" sz="2400"/>
          </a:p>
          <a:p>
            <a:pPr marL="0" indent="0">
              <a:buNone/>
            </a:pPr>
            <a:endParaRPr lang="en-ZA"/>
          </a:p>
          <a:p>
            <a:pPr marL="0" indent="0">
              <a:buNone/>
            </a:pPr>
            <a:endParaRPr lang="en-ZA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38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E1CB-D65C-7218-6424-63D24D688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928" y="207035"/>
            <a:ext cx="10890929" cy="1097280"/>
          </a:xfrm>
        </p:spPr>
        <p:txBody>
          <a:bodyPr/>
          <a:lstStyle/>
          <a:p>
            <a:r>
              <a:rPr lang="en-US"/>
              <a:t>Overview</a:t>
            </a:r>
          </a:p>
        </p:txBody>
      </p:sp>
      <p:pic>
        <p:nvPicPr>
          <p:cNvPr id="4" name="Content Placeholder 3" descr="A diagram of a light system&#10;&#10;AI-generated content may be incorrect.">
            <a:extLst>
              <a:ext uri="{FF2B5EF4-FFF2-40B4-BE49-F238E27FC236}">
                <a16:creationId xmlns:a16="http://schemas.microsoft.com/office/drawing/2014/main" id="{4D518A82-955B-D8AF-D73D-1CFDECB6C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5336" y="1497661"/>
            <a:ext cx="9734793" cy="427065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95CA16-8AAB-D083-6185-4E47DFDEB57E}"/>
              </a:ext>
            </a:extLst>
          </p:cNvPr>
          <p:cNvSpPr txBox="1"/>
          <p:nvPr/>
        </p:nvSpPr>
        <p:spPr>
          <a:xfrm>
            <a:off x="4669191" y="6001109"/>
            <a:ext cx="51968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Overview of System</a:t>
            </a:r>
          </a:p>
        </p:txBody>
      </p:sp>
    </p:spTree>
    <p:extLst>
      <p:ext uri="{BB962C8B-B14F-4D97-AF65-F5344CB8AC3E}">
        <p14:creationId xmlns:p14="http://schemas.microsoft.com/office/powerpoint/2010/main" val="297377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3A54A-839C-667B-BF2B-9A9CED58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169" y="585780"/>
            <a:ext cx="10890929" cy="1097280"/>
          </a:xfrm>
        </p:spPr>
        <p:txBody>
          <a:bodyPr/>
          <a:lstStyle/>
          <a:p>
            <a:r>
              <a:rPr lang="en-ZA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Animal Detection Subsystem</a:t>
            </a:r>
          </a:p>
        </p:txBody>
      </p:sp>
      <p:pic>
        <p:nvPicPr>
          <p:cNvPr id="5" name="Picture 4" descr="A blue circuit board with a blue square and a blue square&#10;&#10;AI-generated content may be incorrect.">
            <a:extLst>
              <a:ext uri="{FF2B5EF4-FFF2-40B4-BE49-F238E27FC236}">
                <a16:creationId xmlns:a16="http://schemas.microsoft.com/office/drawing/2014/main" id="{0EE0984D-5C5D-1E47-6E89-D2A1F321E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62" y="3012020"/>
            <a:ext cx="1920457" cy="1920457"/>
          </a:xfrm>
          <a:prstGeom prst="rect">
            <a:avLst/>
          </a:prstGeom>
        </p:spPr>
      </p:pic>
      <p:pic>
        <p:nvPicPr>
          <p:cNvPr id="7" name="Picture 6" descr="A white ball on a circuit board&#10;&#10;AI-generated content may be incorrect.">
            <a:extLst>
              <a:ext uri="{FF2B5EF4-FFF2-40B4-BE49-F238E27FC236}">
                <a16:creationId xmlns:a16="http://schemas.microsoft.com/office/drawing/2014/main" id="{7A6098CD-7FB3-8228-B9FB-72A314C72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487" y="3429000"/>
            <a:ext cx="1981200" cy="1327030"/>
          </a:xfrm>
          <a:prstGeom prst="rect">
            <a:avLst/>
          </a:prstGeom>
        </p:spPr>
      </p:pic>
      <p:pic>
        <p:nvPicPr>
          <p:cNvPr id="9" name="Picture 8" descr="A red laser beam on a wall&#10;&#10;AI-generated content may be incorrect.">
            <a:extLst>
              <a:ext uri="{FF2B5EF4-FFF2-40B4-BE49-F238E27FC236}">
                <a16:creationId xmlns:a16="http://schemas.microsoft.com/office/drawing/2014/main" id="{835C694B-762E-9B1B-9152-28CC35B5B4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867" y="2791407"/>
            <a:ext cx="2564923" cy="256492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803C7D80-A434-5096-BCA2-08348E4B9C2F}"/>
              </a:ext>
            </a:extLst>
          </p:cNvPr>
          <p:cNvSpPr/>
          <p:nvPr/>
        </p:nvSpPr>
        <p:spPr>
          <a:xfrm>
            <a:off x="1496736" y="6056198"/>
            <a:ext cx="81915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1754645-1FF7-1B13-2374-25696B8BD3A8}"/>
              </a:ext>
            </a:extLst>
          </p:cNvPr>
          <p:cNvSpPr/>
          <p:nvPr/>
        </p:nvSpPr>
        <p:spPr>
          <a:xfrm>
            <a:off x="3612540" y="6031899"/>
            <a:ext cx="81915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08C44CE-4D54-D5FD-B6CE-88585F512059}"/>
              </a:ext>
            </a:extLst>
          </p:cNvPr>
          <p:cNvSpPr/>
          <p:nvPr/>
        </p:nvSpPr>
        <p:spPr>
          <a:xfrm>
            <a:off x="5765087" y="6056198"/>
            <a:ext cx="81915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F332CB-6C40-28D1-B8D8-BE79D2BD6346}"/>
              </a:ext>
            </a:extLst>
          </p:cNvPr>
          <p:cNvSpPr txBox="1"/>
          <p:nvPr/>
        </p:nvSpPr>
        <p:spPr>
          <a:xfrm>
            <a:off x="837210" y="1921046"/>
            <a:ext cx="3148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>
                <a:latin typeface="Aptos" panose="020B0004020202020204" pitchFamily="34" charset="0"/>
              </a:rPr>
              <a:t>Light sensor</a:t>
            </a:r>
          </a:p>
          <a:p>
            <a:r>
              <a:rPr lang="en-ZA">
                <a:latin typeface="Aptos" panose="020B0004020202020204" pitchFamily="34" charset="0"/>
              </a:rPr>
              <a:t>*P</a:t>
            </a:r>
            <a:r>
              <a:rPr lang="en-ZA"/>
              <a:t>ower efficiency   </a:t>
            </a:r>
          </a:p>
          <a:p>
            <a:r>
              <a:rPr lang="en-ZA"/>
              <a:t>*Increases electronics’ lifespan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38BFC6-2F1D-CC4E-4892-6EFB9AD3C57B}"/>
              </a:ext>
            </a:extLst>
          </p:cNvPr>
          <p:cNvSpPr txBox="1"/>
          <p:nvPr/>
        </p:nvSpPr>
        <p:spPr>
          <a:xfrm>
            <a:off x="4320270" y="1938673"/>
            <a:ext cx="47606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>
                <a:latin typeface="Aptos" panose="020B0004020202020204" pitchFamily="34" charset="0"/>
              </a:rPr>
              <a:t>Passive Infrared (PIR) </a:t>
            </a:r>
          </a:p>
          <a:p>
            <a:r>
              <a:rPr lang="en-ZA" b="1"/>
              <a:t>*C</a:t>
            </a:r>
            <a:r>
              <a:rPr lang="en-ZA"/>
              <a:t>ommon use in literature</a:t>
            </a:r>
          </a:p>
          <a:p>
            <a:r>
              <a:rPr lang="en-ZA"/>
              <a:t>*Long-range detection </a:t>
            </a:r>
          </a:p>
          <a:p>
            <a:pPr marL="457200" indent="-457200">
              <a:buAutoNum type="arabicPeriod"/>
            </a:pPr>
            <a:endParaRPr lang="en-ZA"/>
          </a:p>
          <a:p>
            <a:pPr marL="457200" indent="-457200">
              <a:buAutoNum type="arabicPeriod"/>
            </a:pPr>
            <a:endParaRPr lang="en-Z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DF4DD5-86C6-6805-F91F-C473C7F2F9C7}"/>
              </a:ext>
            </a:extLst>
          </p:cNvPr>
          <p:cNvSpPr txBox="1"/>
          <p:nvPr/>
        </p:nvSpPr>
        <p:spPr>
          <a:xfrm>
            <a:off x="8529785" y="1952045"/>
            <a:ext cx="3941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>
                <a:latin typeface="Aptos" panose="020B0004020202020204" pitchFamily="34" charset="0"/>
              </a:rPr>
              <a:t>IR Break beam sensor</a:t>
            </a:r>
          </a:p>
          <a:p>
            <a:r>
              <a:rPr lang="en-ZA"/>
              <a:t>* Short-range detection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0EBBB7-E7AA-888E-2140-2EEF138E7ABC}"/>
              </a:ext>
            </a:extLst>
          </p:cNvPr>
          <p:cNvSpPr txBox="1"/>
          <p:nvPr/>
        </p:nvSpPr>
        <p:spPr>
          <a:xfrm>
            <a:off x="48821" y="5991666"/>
            <a:ext cx="1576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/>
              <a:t>Light sensor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54C364-A1A1-EFD5-E8C0-3E80D908ACAE}"/>
              </a:ext>
            </a:extLst>
          </p:cNvPr>
          <p:cNvSpPr txBox="1"/>
          <p:nvPr/>
        </p:nvSpPr>
        <p:spPr>
          <a:xfrm>
            <a:off x="2279143" y="5991666"/>
            <a:ext cx="1576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/>
              <a:t>PIR sensor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D15D03-78FB-309B-D46B-24749348B141}"/>
              </a:ext>
            </a:extLst>
          </p:cNvPr>
          <p:cNvSpPr txBox="1"/>
          <p:nvPr/>
        </p:nvSpPr>
        <p:spPr>
          <a:xfrm>
            <a:off x="4485269" y="5991666"/>
            <a:ext cx="1652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/>
              <a:t>IR Break beam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7AF26-1674-1119-DAE9-C3212E0FC3A3}"/>
              </a:ext>
            </a:extLst>
          </p:cNvPr>
          <p:cNvSpPr txBox="1"/>
          <p:nvPr/>
        </p:nvSpPr>
        <p:spPr>
          <a:xfrm>
            <a:off x="6700613" y="5999633"/>
            <a:ext cx="2297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b="1"/>
              <a:t>ANIMAL DETECTED!!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F9112D-7378-899E-405F-61E297DE18BF}"/>
              </a:ext>
            </a:extLst>
          </p:cNvPr>
          <p:cNvSpPr txBox="1"/>
          <p:nvPr/>
        </p:nvSpPr>
        <p:spPr>
          <a:xfrm>
            <a:off x="72371" y="5457785"/>
            <a:ext cx="623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Sequential logic of operation:</a:t>
            </a:r>
          </a:p>
        </p:txBody>
      </p:sp>
    </p:spTree>
    <p:extLst>
      <p:ext uri="{BB962C8B-B14F-4D97-AF65-F5344CB8AC3E}">
        <p14:creationId xmlns:p14="http://schemas.microsoft.com/office/powerpoint/2010/main" val="425956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6 Necessary Elements For Designing A Perfect Mobile App User Interface ...">
            <a:extLst>
              <a:ext uri="{FF2B5EF4-FFF2-40B4-BE49-F238E27FC236}">
                <a16:creationId xmlns:a16="http://schemas.microsoft.com/office/drawing/2014/main" id="{E56B284A-D0A1-C566-FD74-C7D36E036D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5800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08353" y="-2157"/>
            <a:ext cx="7178614" cy="6862313"/>
          </a:xfrm>
          <a:prstGeom prst="rect">
            <a:avLst/>
          </a:prstGeom>
        </p:spPr>
      </p:pic>
      <p:pic>
        <p:nvPicPr>
          <p:cNvPr id="9" name="Picture 8" descr="무료 이미지 : 변하기 쉬운, 범위, 차량, 탑, 돛대, 수신, 뉴스, 배달, 보내다, 전송 타워, 무선 기술, 송신기, 라디오 ...">
            <a:extLst>
              <a:ext uri="{FF2B5EF4-FFF2-40B4-BE49-F238E27FC236}">
                <a16:creationId xmlns:a16="http://schemas.microsoft.com/office/drawing/2014/main" id="{F5575EF0-8545-DBC4-5062-C68EAD6CFFA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6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69000"/>
                    </a14:imgEffect>
                    <a14:imgEffect>
                      <a14:brightnessContrast bright="1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" y="-2157"/>
            <a:ext cx="5175489" cy="68766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F915DD-EB24-E76D-7C0F-EF62D222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/>
              <a:t>Networking and User Interface Subsystem</a:t>
            </a:r>
          </a:p>
        </p:txBody>
      </p:sp>
      <p:pic>
        <p:nvPicPr>
          <p:cNvPr id="4" name="Content Placeholder 3" descr="A diagram of a penguin&#10;&#10;AI-generated content may be incorrect.">
            <a:extLst>
              <a:ext uri="{FF2B5EF4-FFF2-40B4-BE49-F238E27FC236}">
                <a16:creationId xmlns:a16="http://schemas.microsoft.com/office/drawing/2014/main" id="{D85FE662-F1D5-B9AE-6136-8935A48E2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rcRect l="29698" t="1456" r="30705" b="1456"/>
          <a:stretch>
            <a:fillRect/>
          </a:stretch>
        </p:blipFill>
        <p:spPr>
          <a:xfrm>
            <a:off x="644344" y="3251717"/>
            <a:ext cx="3829598" cy="3192300"/>
          </a:xfr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FDFD55-3A39-0A0C-6FA8-FF49ADFCD4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709" y="3271119"/>
            <a:ext cx="4375032" cy="293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480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BFFB-FD0D-5DDA-5CE7-F6728F084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50167"/>
            <a:ext cx="10890929" cy="1097280"/>
          </a:xfrm>
        </p:spPr>
        <p:txBody>
          <a:bodyPr/>
          <a:lstStyle/>
          <a:p>
            <a:r>
              <a:rPr lang="en-US"/>
              <a:t>Overview</a:t>
            </a:r>
          </a:p>
        </p:txBody>
      </p:sp>
      <p:pic>
        <p:nvPicPr>
          <p:cNvPr id="4" name="Content Placeholder 3" descr="IBM’s First Personal Computer Was Released 34 Years Ago Today | Observer">
            <a:extLst>
              <a:ext uri="{FF2B5EF4-FFF2-40B4-BE49-F238E27FC236}">
                <a16:creationId xmlns:a16="http://schemas.microsoft.com/office/drawing/2014/main" id="{C2B2AA35-7E95-C42B-DFC7-7FD0268A6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843" y="3467548"/>
            <a:ext cx="1565715" cy="1466433"/>
          </a:xfrm>
        </p:spPr>
      </p:pic>
      <p:pic>
        <p:nvPicPr>
          <p:cNvPr id="5" name="Graphic 4" descr="Man with solid fill">
            <a:extLst>
              <a:ext uri="{FF2B5EF4-FFF2-40B4-BE49-F238E27FC236}">
                <a16:creationId xmlns:a16="http://schemas.microsoft.com/office/drawing/2014/main" id="{82F22D2F-1716-2C57-07C2-3E2C7A6A6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517" y="3891951"/>
            <a:ext cx="1331343" cy="1475116"/>
          </a:xfrm>
          <a:prstGeom prst="rect">
            <a:avLst/>
          </a:prstGeom>
        </p:spPr>
      </p:pic>
      <p:pic>
        <p:nvPicPr>
          <p:cNvPr id="7" name="Picture 6" descr="Microcontroller ESP32 Cam – blockcoding.click">
            <a:extLst>
              <a:ext uri="{FF2B5EF4-FFF2-40B4-BE49-F238E27FC236}">
                <a16:creationId xmlns:a16="http://schemas.microsoft.com/office/drawing/2014/main" id="{2662D3F6-A041-2147-EFD7-BF25A55F6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520" y="1708748"/>
            <a:ext cx="1453715" cy="1111371"/>
          </a:xfrm>
          <a:prstGeom prst="rect">
            <a:avLst/>
          </a:prstGeom>
        </p:spPr>
      </p:pic>
      <p:pic>
        <p:nvPicPr>
          <p:cNvPr id="8" name="Picture 7" descr="Microcontroller ESP32 Cam – blockcoding.click">
            <a:extLst>
              <a:ext uri="{FF2B5EF4-FFF2-40B4-BE49-F238E27FC236}">
                <a16:creationId xmlns:a16="http://schemas.microsoft.com/office/drawing/2014/main" id="{FBD7C2AF-D7CD-BFC9-746E-4497492E6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519" y="3922861"/>
            <a:ext cx="1453715" cy="1111371"/>
          </a:xfrm>
          <a:prstGeom prst="rect">
            <a:avLst/>
          </a:prstGeom>
        </p:spPr>
      </p:pic>
      <p:pic>
        <p:nvPicPr>
          <p:cNvPr id="9" name="Picture 8" descr="Microcontroller ESP32 Cam – blockcoding.click">
            <a:extLst>
              <a:ext uri="{FF2B5EF4-FFF2-40B4-BE49-F238E27FC236}">
                <a16:creationId xmlns:a16="http://schemas.microsoft.com/office/drawing/2014/main" id="{13E67A30-4E3C-F059-96A0-7E3359D39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9142" y="386031"/>
            <a:ext cx="1453715" cy="1111371"/>
          </a:xfrm>
          <a:prstGeom prst="rect">
            <a:avLst/>
          </a:prstGeom>
        </p:spPr>
      </p:pic>
      <p:pic>
        <p:nvPicPr>
          <p:cNvPr id="10" name="Picture 9" descr="Microcontroller ESP32 Cam – blockcoding.click">
            <a:extLst>
              <a:ext uri="{FF2B5EF4-FFF2-40B4-BE49-F238E27FC236}">
                <a16:creationId xmlns:a16="http://schemas.microsoft.com/office/drawing/2014/main" id="{0C4E4011-25F5-885C-766A-9ED2292D1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463" y="5489992"/>
            <a:ext cx="1453715" cy="1111371"/>
          </a:xfrm>
          <a:prstGeom prst="rect">
            <a:avLst/>
          </a:prstGeom>
        </p:spPr>
      </p:pic>
      <p:pic>
        <p:nvPicPr>
          <p:cNvPr id="11" name="Graphic 10" descr="Penguin with solid fill">
            <a:extLst>
              <a:ext uri="{FF2B5EF4-FFF2-40B4-BE49-F238E27FC236}">
                <a16:creationId xmlns:a16="http://schemas.microsoft.com/office/drawing/2014/main" id="{4AA98780-0A65-4E8A-0448-A8EA1A4BEC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82045" y="3014932"/>
            <a:ext cx="914400" cy="9144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B44E71-34C5-45D9-FCB1-A1EBB44E39B1}"/>
              </a:ext>
            </a:extLst>
          </p:cNvPr>
          <p:cNvCxnSpPr/>
          <p:nvPr/>
        </p:nvCxnSpPr>
        <p:spPr>
          <a:xfrm>
            <a:off x="8400143" y="5080000"/>
            <a:ext cx="1161142" cy="689428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623A4C-F230-C077-0C82-13089F65B5C7}"/>
              </a:ext>
            </a:extLst>
          </p:cNvPr>
          <p:cNvCxnSpPr/>
          <p:nvPr/>
        </p:nvCxnSpPr>
        <p:spPr>
          <a:xfrm>
            <a:off x="7493000" y="2884714"/>
            <a:ext cx="18142" cy="85271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3FF477-7913-58C9-E636-43337792ED28}"/>
              </a:ext>
            </a:extLst>
          </p:cNvPr>
          <p:cNvCxnSpPr/>
          <p:nvPr/>
        </p:nvCxnSpPr>
        <p:spPr>
          <a:xfrm flipH="1">
            <a:off x="7840794" y="1011207"/>
            <a:ext cx="1126569" cy="643558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Honey Badger Facts (Mellivora capensis)">
            <a:extLst>
              <a:ext uri="{FF2B5EF4-FFF2-40B4-BE49-F238E27FC236}">
                <a16:creationId xmlns:a16="http://schemas.microsoft.com/office/drawing/2014/main" id="{3CD8E47D-C616-A688-8F86-ADD4FB0ACC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7585" y="2638694"/>
            <a:ext cx="1035172" cy="77548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304378-1090-11FF-4500-F38310EF6B5D}"/>
              </a:ext>
            </a:extLst>
          </p:cNvPr>
          <p:cNvCxnSpPr/>
          <p:nvPr/>
        </p:nvCxnSpPr>
        <p:spPr>
          <a:xfrm flipH="1">
            <a:off x="2554035" y="2323655"/>
            <a:ext cx="4209143" cy="181325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04C768F-9A34-6578-9976-0404B4306E7E}"/>
              </a:ext>
            </a:extLst>
          </p:cNvPr>
          <p:cNvSpPr txBox="1"/>
          <p:nvPr/>
        </p:nvSpPr>
        <p:spPr>
          <a:xfrm>
            <a:off x="2413109" y="4894510"/>
            <a:ext cx="216477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Human is the classifier, not machine learning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DA6505-DFF4-5555-2FB5-1398BFEB7180}"/>
              </a:ext>
            </a:extLst>
          </p:cNvPr>
          <p:cNvSpPr txBox="1"/>
          <p:nvPr/>
        </p:nvSpPr>
        <p:spPr>
          <a:xfrm>
            <a:off x="453867" y="2822209"/>
            <a:ext cx="19569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UI must minimize</a:t>
            </a:r>
          </a:p>
          <a:p>
            <a:r>
              <a:rPr lang="en-US"/>
              <a:t>human error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934F3C-9328-244B-8D1C-3A5F955D9D35}"/>
              </a:ext>
            </a:extLst>
          </p:cNvPr>
          <p:cNvSpPr txBox="1"/>
          <p:nvPr/>
        </p:nvSpPr>
        <p:spPr>
          <a:xfrm>
            <a:off x="415636" y="1333500"/>
            <a:ext cx="528204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/>
              <a:t>No machine learning</a:t>
            </a:r>
          </a:p>
          <a:p>
            <a:pPr marL="285750" indent="-285750">
              <a:buFont typeface="Calibri"/>
              <a:buChar char="-"/>
            </a:pPr>
            <a:r>
              <a:rPr lang="en-US" b="1"/>
              <a:t>No database</a:t>
            </a:r>
          </a:p>
          <a:p>
            <a:pPr marL="285750" indent="-285750">
              <a:buFont typeface="Calibri"/>
              <a:buChar char="-"/>
            </a:pPr>
            <a:r>
              <a:rPr lang="en-US" b="1"/>
              <a:t>Native web-application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87370E7-910B-FEB3-5810-41A47892B187}"/>
                  </a:ext>
                </a:extLst>
              </p14:cNvPr>
              <p14:cNvContentPartPr/>
              <p14:nvPr/>
            </p14:nvContentPartPr>
            <p14:xfrm>
              <a:off x="7269479" y="3017519"/>
              <a:ext cx="624429" cy="144325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87370E7-910B-FEB3-5810-41A47892B1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51484" y="2999568"/>
                <a:ext cx="660059" cy="17986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AE7E20F-3295-4F36-CCEE-F98C0BDBB755}"/>
              </a:ext>
            </a:extLst>
          </p:cNvPr>
          <p:cNvSpPr txBox="1"/>
          <p:nvPr/>
        </p:nvSpPr>
        <p:spPr>
          <a:xfrm>
            <a:off x="4374100" y="6224269"/>
            <a:ext cx="34065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Overall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57191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8B6E-61A7-06D2-500A-4256D7A11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20771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sz="3600"/>
              <a:t>Main Goal is Reliability, Because Consequences are Severe</a:t>
            </a:r>
          </a:p>
        </p:txBody>
      </p:sp>
      <p:pic>
        <p:nvPicPr>
          <p:cNvPr id="4" name="Content Placeholder 3" descr="Smashed, broken Camera Stock Photo - Alamy">
            <a:extLst>
              <a:ext uri="{FF2B5EF4-FFF2-40B4-BE49-F238E27FC236}">
                <a16:creationId xmlns:a16="http://schemas.microsoft.com/office/drawing/2014/main" id="{98A77B0D-A7A5-9E39-9642-AB2943EF0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1823"/>
          <a:stretch>
            <a:fillRect/>
          </a:stretch>
        </p:blipFill>
        <p:spPr>
          <a:xfrm>
            <a:off x="337613" y="2155873"/>
            <a:ext cx="3962400" cy="2566703"/>
          </a:xfrm>
        </p:spPr>
      </p:pic>
      <p:pic>
        <p:nvPicPr>
          <p:cNvPr id="3" name="Picture 2" descr="A diagram of a computer component&#10;&#10;AI-generated content may be incorrect.">
            <a:extLst>
              <a:ext uri="{FF2B5EF4-FFF2-40B4-BE49-F238E27FC236}">
                <a16:creationId xmlns:a16="http://schemas.microsoft.com/office/drawing/2014/main" id="{F92B8F06-0C52-002D-21C3-B0265B5ED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302026" y="1945967"/>
            <a:ext cx="3990515" cy="2764781"/>
          </a:xfrm>
          <a:prstGeom prst="rect">
            <a:avLst/>
          </a:prstGeom>
        </p:spPr>
      </p:pic>
      <p:pic>
        <p:nvPicPr>
          <p:cNvPr id="9" name="Picture 8" descr="A screen shot of a computer error&#10;&#10;AI-generated content may be incorrect.">
            <a:extLst>
              <a:ext uri="{FF2B5EF4-FFF2-40B4-BE49-F238E27FC236}">
                <a16:creationId xmlns:a16="http://schemas.microsoft.com/office/drawing/2014/main" id="{995F6725-11EE-9CE5-BAEF-9B4583A339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464669" y="2392662"/>
            <a:ext cx="3486510" cy="18857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BD3B94-77F1-643B-79DE-859E839DC89E}"/>
              </a:ext>
            </a:extLst>
          </p:cNvPr>
          <p:cNvSpPr txBox="1"/>
          <p:nvPr/>
        </p:nvSpPr>
        <p:spPr>
          <a:xfrm>
            <a:off x="3812012" y="1235878"/>
            <a:ext cx="705612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/>
              <a:t>Drivers of Failure: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E0F018-533F-0413-D8AE-0B96AE6CF9C2}"/>
              </a:ext>
            </a:extLst>
          </p:cNvPr>
          <p:cNvSpPr txBox="1"/>
          <p:nvPr/>
        </p:nvSpPr>
        <p:spPr>
          <a:xfrm>
            <a:off x="533400" y="4907280"/>
            <a:ext cx="40538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ESP32-cam suffers from frequent</a:t>
            </a:r>
          </a:p>
          <a:p>
            <a:r>
              <a:rPr lang="en-US"/>
              <a:t>camera malfunctions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AC5280-ABDC-F753-5640-37952FEF1BD9}"/>
              </a:ext>
            </a:extLst>
          </p:cNvPr>
          <p:cNvSpPr txBox="1"/>
          <p:nvPr/>
        </p:nvSpPr>
        <p:spPr>
          <a:xfrm>
            <a:off x="4450080" y="4831080"/>
            <a:ext cx="3718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Wireless communication fails a 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1D3C02-CB97-2620-A56D-8F2ABA5C1A16}"/>
              </a:ext>
            </a:extLst>
          </p:cNvPr>
          <p:cNvSpPr txBox="1"/>
          <p:nvPr/>
        </p:nvSpPr>
        <p:spPr>
          <a:xfrm>
            <a:off x="8679899" y="4720375"/>
            <a:ext cx="305950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User's fail a lot, especially with bad UI</a:t>
            </a:r>
          </a:p>
        </p:txBody>
      </p:sp>
    </p:spTree>
    <p:extLst>
      <p:ext uri="{BB962C8B-B14F-4D97-AF65-F5344CB8AC3E}">
        <p14:creationId xmlns:p14="http://schemas.microsoft.com/office/powerpoint/2010/main" val="60985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1C931-F242-87B3-4FB2-A69973072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Networking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 descr="Network">
            <a:extLst>
              <a:ext uri="{FF2B5EF4-FFF2-40B4-BE49-F238E27FC236}">
                <a16:creationId xmlns:a16="http://schemas.microsoft.com/office/drawing/2014/main" id="{4CF6E118-7907-222B-6251-D725AA4C1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0408" y="966978"/>
            <a:ext cx="4873752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84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F2A3F-1CEE-A13F-6F0B-5BDE32C2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60" y="192658"/>
            <a:ext cx="10890929" cy="1097280"/>
          </a:xfrm>
        </p:spPr>
        <p:txBody>
          <a:bodyPr/>
          <a:lstStyle/>
          <a:p>
            <a:r>
              <a:rPr lang="en-US"/>
              <a:t>Networking Design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9F1A45-8EA4-ED15-62FD-9EEDFE1FE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421" y="1540793"/>
            <a:ext cx="5481832" cy="232970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7E5208-FAEE-8937-0989-F74B5D6771A6}"/>
              </a:ext>
            </a:extLst>
          </p:cNvPr>
          <p:cNvSpPr txBox="1"/>
          <p:nvPr/>
        </p:nvSpPr>
        <p:spPr>
          <a:xfrm>
            <a:off x="274477" y="1170120"/>
            <a:ext cx="44507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Application Layer Design</a:t>
            </a:r>
          </a:p>
        </p:txBody>
      </p:sp>
      <p:pic>
        <p:nvPicPr>
          <p:cNvPr id="7" name="Picture 6" descr="A diagram of a server&#10;&#10;AI-generated content may be incorrect.">
            <a:extLst>
              <a:ext uri="{FF2B5EF4-FFF2-40B4-BE49-F238E27FC236}">
                <a16:creationId xmlns:a16="http://schemas.microsoft.com/office/drawing/2014/main" id="{146D9B84-3ECC-D712-8DEA-4621B3D67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56" y="1989018"/>
            <a:ext cx="5372819" cy="20317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EF4055-E754-3FBD-1B47-8EF757411AE2}"/>
              </a:ext>
            </a:extLst>
          </p:cNvPr>
          <p:cNvSpPr txBox="1"/>
          <p:nvPr/>
        </p:nvSpPr>
        <p:spPr>
          <a:xfrm>
            <a:off x="6089137" y="1359641"/>
            <a:ext cx="37234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Correct Server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7A7BD-CD29-6773-0470-BDEA5A1B01E9}"/>
              </a:ext>
            </a:extLst>
          </p:cNvPr>
          <p:cNvSpPr txBox="1"/>
          <p:nvPr/>
        </p:nvSpPr>
        <p:spPr>
          <a:xfrm>
            <a:off x="6370320" y="4624046"/>
            <a:ext cx="35814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/>
              <a:t>Concurrency Issues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Control signals vs data signals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TCP and UDP</a:t>
            </a:r>
          </a:p>
        </p:txBody>
      </p:sp>
      <p:pic>
        <p:nvPicPr>
          <p:cNvPr id="10" name="Picture 9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EDF42654-D60C-E24B-9670-590BE50137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148" t="18697" r="1148" b="14496"/>
          <a:stretch>
            <a:fillRect/>
          </a:stretch>
        </p:blipFill>
        <p:spPr>
          <a:xfrm>
            <a:off x="-1080" y="3867508"/>
            <a:ext cx="6098181" cy="24393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7B1E6B-E3D7-A5CB-484C-19044D59436C}"/>
              </a:ext>
            </a:extLst>
          </p:cNvPr>
          <p:cNvSpPr txBox="1"/>
          <p:nvPr/>
        </p:nvSpPr>
        <p:spPr>
          <a:xfrm>
            <a:off x="254000" y="6305176"/>
            <a:ext cx="59465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          Message Structure and Protocol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79FCE-A049-AEC2-869C-DC88C3E7BD1F}"/>
              </a:ext>
            </a:extLst>
          </p:cNvPr>
          <p:cNvSpPr txBox="1"/>
          <p:nvPr/>
        </p:nvSpPr>
        <p:spPr>
          <a:xfrm>
            <a:off x="6454588" y="4153647"/>
            <a:ext cx="53638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                      Server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6229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745E-512F-7DBA-7CAE-37D79E0E3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035"/>
            <a:ext cx="10890929" cy="1097280"/>
          </a:xfrm>
        </p:spPr>
        <p:txBody>
          <a:bodyPr/>
          <a:lstStyle/>
          <a:p>
            <a:r>
              <a:rPr lang="en-US"/>
              <a:t>Peer-to-peer Network</a:t>
            </a:r>
          </a:p>
        </p:txBody>
      </p:sp>
      <p:pic>
        <p:nvPicPr>
          <p:cNvPr id="4" name="Content Placeholder 3" descr="A diagram of a penguin&#10;&#10;AI-generated content may be incorrect.">
            <a:extLst>
              <a:ext uri="{FF2B5EF4-FFF2-40B4-BE49-F238E27FC236}">
                <a16:creationId xmlns:a16="http://schemas.microsoft.com/office/drawing/2014/main" id="{13125283-060B-4E9D-4482-F68BEEBA6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022" y="1095113"/>
            <a:ext cx="11730666" cy="402619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16DB05-C69C-A78B-4BAB-E7B0253CE784}"/>
              </a:ext>
            </a:extLst>
          </p:cNvPr>
          <p:cNvSpPr txBox="1"/>
          <p:nvPr/>
        </p:nvSpPr>
        <p:spPr>
          <a:xfrm>
            <a:off x="346363" y="5579722"/>
            <a:ext cx="1007722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000" b="1"/>
              <a:t>Each ESP32-cam is BOTH A SERVER AND A CLIENT in this architecture</a:t>
            </a:r>
          </a:p>
          <a:p>
            <a:pPr marL="342900" indent="-342900">
              <a:buFont typeface="Calibri"/>
              <a:buChar char="-"/>
            </a:pPr>
            <a:r>
              <a:rPr lang="en-US" sz="2000" b="1"/>
              <a:t>Effectiveness scales with number of detection devices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8F5FE-ACFE-6E00-8CE3-9C8D55D043E3}"/>
              </a:ext>
            </a:extLst>
          </p:cNvPr>
          <p:cNvSpPr txBox="1"/>
          <p:nvPr/>
        </p:nvSpPr>
        <p:spPr>
          <a:xfrm>
            <a:off x="3476784" y="5123132"/>
            <a:ext cx="5244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Peer-to-peer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089136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C4DC23-36BB-CA70-58B7-BB87AA9A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User-Interface </a:t>
            </a:r>
          </a:p>
        </p:txBody>
      </p:sp>
      <p:pic>
        <p:nvPicPr>
          <p:cNvPr id="4" name="Content Placeholder 3" descr="Pentingnya User Interface (UI) Serta 8 Karekteristik Yang Baik Untuk ...">
            <a:extLst>
              <a:ext uri="{FF2B5EF4-FFF2-40B4-BE49-F238E27FC236}">
                <a16:creationId xmlns:a16="http://schemas.microsoft.com/office/drawing/2014/main" id="{987CF78E-5652-D18D-D5B0-C2FCDBA8D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923" r="16614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643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B50F-668D-7B51-9F0C-02125A1B8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035"/>
            <a:ext cx="10890929" cy="1097280"/>
          </a:xfrm>
        </p:spPr>
        <p:txBody>
          <a:bodyPr/>
          <a:lstStyle/>
          <a:p>
            <a:r>
              <a:rPr lang="en-US"/>
              <a:t>User-Interface Design: Idle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08A992-5381-E191-1A8B-529B3881C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9545" y="965698"/>
            <a:ext cx="7278828" cy="491763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8BDC74-235B-A11F-BC08-DDDC65C6CEBE}"/>
              </a:ext>
            </a:extLst>
          </p:cNvPr>
          <p:cNvSpPr txBox="1"/>
          <p:nvPr/>
        </p:nvSpPr>
        <p:spPr>
          <a:xfrm>
            <a:off x="2495176" y="5901765"/>
            <a:ext cx="69028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User-interface in Idle Mode</a:t>
            </a:r>
          </a:p>
        </p:txBody>
      </p:sp>
    </p:spTree>
    <p:extLst>
      <p:ext uri="{BB962C8B-B14F-4D97-AF65-F5344CB8AC3E}">
        <p14:creationId xmlns:p14="http://schemas.microsoft.com/office/powerpoint/2010/main" val="1653451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FF54-CB4D-F112-92DB-7849A41A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035"/>
            <a:ext cx="10890929" cy="1097280"/>
          </a:xfrm>
        </p:spPr>
        <p:txBody>
          <a:bodyPr/>
          <a:lstStyle/>
          <a:p>
            <a:r>
              <a:rPr lang="en-US"/>
              <a:t>Detection Event and Registered Devices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3F22BE-3BB4-22F3-389C-86D7A54AF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278" y="1555169"/>
            <a:ext cx="11382532" cy="428502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45D0EF-2708-E907-8210-AFD593E3BA21}"/>
              </a:ext>
            </a:extLst>
          </p:cNvPr>
          <p:cNvSpPr txBox="1"/>
          <p:nvPr/>
        </p:nvSpPr>
        <p:spPr>
          <a:xfrm>
            <a:off x="798269" y="5834267"/>
            <a:ext cx="40004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Detection Alert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D192D0-DC9A-0B96-6906-9995941D4458}"/>
              </a:ext>
            </a:extLst>
          </p:cNvPr>
          <p:cNvSpPr txBox="1"/>
          <p:nvPr/>
        </p:nvSpPr>
        <p:spPr>
          <a:xfrm>
            <a:off x="7010922" y="5640498"/>
            <a:ext cx="40178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Registered Devices</a:t>
            </a:r>
          </a:p>
        </p:txBody>
      </p:sp>
    </p:spTree>
    <p:extLst>
      <p:ext uri="{BB962C8B-B14F-4D97-AF65-F5344CB8AC3E}">
        <p14:creationId xmlns:p14="http://schemas.microsoft.com/office/powerpoint/2010/main" val="2131039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1BF9-B0D8-BF9D-19D5-21F268EBB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5148"/>
            <a:ext cx="10890929" cy="1097280"/>
          </a:xfrm>
        </p:spPr>
        <p:txBody>
          <a:bodyPr/>
          <a:lstStyle/>
          <a:p>
            <a:r>
              <a:rPr lang="en-US"/>
              <a:t>System Log and Camera Broken Handling</a:t>
            </a:r>
          </a:p>
        </p:txBody>
      </p:sp>
      <p:pic>
        <p:nvPicPr>
          <p:cNvPr id="4" name="Content Placeholder 3" descr="A white rectangular frame with black text&#10;&#10;AI-generated content may be incorrect.">
            <a:extLst>
              <a:ext uri="{FF2B5EF4-FFF2-40B4-BE49-F238E27FC236}">
                <a16:creationId xmlns:a16="http://schemas.microsoft.com/office/drawing/2014/main" id="{DFCE0662-67C4-9108-1598-97A91C1EE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56" y="1518058"/>
            <a:ext cx="11049078" cy="2432685"/>
          </a:xfrm>
        </p:spPr>
      </p:pic>
      <p:pic>
        <p:nvPicPr>
          <p:cNvPr id="5" name="Picture 4" descr="A close-up of a number&#10;&#10;AI-generated content may be incorrect.">
            <a:extLst>
              <a:ext uri="{FF2B5EF4-FFF2-40B4-BE49-F238E27FC236}">
                <a16:creationId xmlns:a16="http://schemas.microsoft.com/office/drawing/2014/main" id="{9060BCD0-D626-A4CD-B996-237850379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387" y="4530216"/>
            <a:ext cx="3105150" cy="1190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FC07F3-7830-EC62-4C34-5B96A587B3F2}"/>
              </a:ext>
            </a:extLst>
          </p:cNvPr>
          <p:cNvSpPr txBox="1"/>
          <p:nvPr/>
        </p:nvSpPr>
        <p:spPr>
          <a:xfrm>
            <a:off x="3459388" y="5859099"/>
            <a:ext cx="52647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 written for broken camera event, in a textfile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CB2830-E05E-EA32-86E5-CB99F7AC3E38}"/>
              </a:ext>
            </a:extLst>
          </p:cNvPr>
          <p:cNvSpPr txBox="1"/>
          <p:nvPr/>
        </p:nvSpPr>
        <p:spPr>
          <a:xfrm>
            <a:off x="4833405" y="3945931"/>
            <a:ext cx="48664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System Log</a:t>
            </a:r>
          </a:p>
        </p:txBody>
      </p:sp>
    </p:spTree>
    <p:extLst>
      <p:ext uri="{BB962C8B-B14F-4D97-AF65-F5344CB8AC3E}">
        <p14:creationId xmlns:p14="http://schemas.microsoft.com/office/powerpoint/2010/main" val="367003488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97EAC76707CB49A7DA9E0C54C88849" ma:contentTypeVersion="18" ma:contentTypeDescription="Create a new document." ma:contentTypeScope="" ma:versionID="b80f02a7612ec2471fa8eaff942cc408">
  <xsd:schema xmlns:xsd="http://www.w3.org/2001/XMLSchema" xmlns:xs="http://www.w3.org/2001/XMLSchema" xmlns:p="http://schemas.microsoft.com/office/2006/metadata/properties" xmlns:ns3="f8883ac8-eee0-4b36-80e1-102d92926503" xmlns:ns4="7a63ea2e-c294-406e-9599-1bb1067f42e1" targetNamespace="http://schemas.microsoft.com/office/2006/metadata/properties" ma:root="true" ma:fieldsID="be2bb7d12fec679a15ceda14f6544218" ns3:_="" ns4:_="">
    <xsd:import namespace="f8883ac8-eee0-4b36-80e1-102d92926503"/>
    <xsd:import namespace="7a63ea2e-c294-406e-9599-1bb1067f42e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883ac8-eee0-4b36-80e1-102d929265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3ea2e-c294-406e-9599-1bb1067f42e1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883ac8-eee0-4b36-80e1-102d9292650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FC1A6D-489C-4E60-BF2B-F3A047202BF7}">
  <ds:schemaRefs>
    <ds:schemaRef ds:uri="7a63ea2e-c294-406e-9599-1bb1067f42e1"/>
    <ds:schemaRef ds:uri="f8883ac8-eee0-4b36-80e1-102d9292650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CA82747-FD42-49E2-A800-8D908C93A073}">
  <ds:schemaRefs>
    <ds:schemaRef ds:uri="7a63ea2e-c294-406e-9599-1bb1067f42e1"/>
    <ds:schemaRef ds:uri="f8883ac8-eee0-4b36-80e1-102d9292650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A18E127-D735-4E29-9C99-314F3C8FD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DashVTI</vt:lpstr>
      <vt:lpstr>“How to keep predators, particularly honey badgers, away from the fence and the penguins??” </vt:lpstr>
      <vt:lpstr>INSIGHT FROM THE LITERATURE</vt:lpstr>
      <vt:lpstr>Proposed solution: Honey Badger Repellent System </vt:lpstr>
      <vt:lpstr>Overview</vt:lpstr>
      <vt:lpstr>Animal Detection Subsystem</vt:lpstr>
      <vt:lpstr>Networking and User Interface Subsystem</vt:lpstr>
      <vt:lpstr>Overview</vt:lpstr>
      <vt:lpstr>Main Goal is Reliability, Because Consequences are Severe</vt:lpstr>
      <vt:lpstr>Networking</vt:lpstr>
      <vt:lpstr>Networking Design</vt:lpstr>
      <vt:lpstr>Peer-to-peer Network</vt:lpstr>
      <vt:lpstr>User-Interface </vt:lpstr>
      <vt:lpstr>User-Interface Design: Idle</vt:lpstr>
      <vt:lpstr>Detection Event and Registered Devices</vt:lpstr>
      <vt:lpstr>System Log and Camera Broken Handling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Lesego Ngoasheng</dc:creator>
  <cp:revision>18</cp:revision>
  <dcterms:created xsi:type="dcterms:W3CDTF">2025-05-26T16:47:15Z</dcterms:created>
  <dcterms:modified xsi:type="dcterms:W3CDTF">2025-05-27T18:32:19Z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0x0101006B97EAC76707CB49A7DA9E0C54C88849</vt:lpwstr>
  </property>
</Properties>
</file>